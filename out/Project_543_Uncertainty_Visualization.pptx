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#543</a:t>
            </a:r>
          </a:p>
          <a:p>
            <a:r>
              <a:t>Visualizing Spatio-Temporal Uncertainty in High-Density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Mustafa Bozyel</a:t>
            </a:r>
          </a:p>
          <a:p>
            <a:pPr>
              <a:defRPr sz="2000"/>
            </a:pPr>
            <a:r>
              <a:t>Senih Kırmaç</a:t>
            </a:r>
          </a:p>
          <a:p>
            <a:pPr>
              <a:defRPr sz="2000"/>
            </a:pPr>
            <a:r>
              <a:t>Ömer Mert Özel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Real-world spatio-temporal data is inherently uncertain (sensor noise, missingness, drift).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Standard dashboards often present values as deterministic, masking uncertainty.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Goal: visualize uncertainty to support safer, more informed decision-making.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Key challenge: communicate uncertainty in high-density data without visual overload.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1"/>
              <a:t>*Example (to validate): on a city-scale GNSS trace, accuracy varies over time; a single line can hide drift, while uncertainty-aware encodings reveal low-confidence segments.*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Works — Uncertainty Visualization Design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Padilla, Kay, and Hullman (2022): design space of uncertainty visualization techniques.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Distributional graphics (e.g., quantile dot plots, ensemble plots) vs. direct visual encodings.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For high-density spatio-temporal data: prefer density-aware encodings (opacity, blur, gradients) to reduce clutter.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MacEachren et al. (2012): visual semiotics—blur, transparency, fuzziness, and size effectively communicate uncertainty.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Works — Design Space (Padilla et al., 2022)</a:t>
            </a:r>
          </a:p>
        </p:txBody>
      </p:sp>
      <p:pic>
        <p:nvPicPr>
          <p:cNvPr id="3" name="Picture 2" descr="padill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Uncertainty visualization techniques and encodings (overview figure).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Works — Spatial Uncertainty &amp; Decision-Oriented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McKenzie et al. (spatial uncertainty examples): uncertainty in map/mobile interfaces.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Common approach: positional uncertainty regions (e.g., circles), enriched with contextual cues.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Risk: hard boundaries can imply false certainty; continuous uncertainty should avoid rigid borders.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Liu et al. (2016): representative sampling / ensemble visualization for multiple possible outcomes.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Implication: uncertainty views must balance clarity, density, and user interpretation.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Works — Spatial Uncertainty Example</a:t>
            </a:r>
          </a:p>
        </p:txBody>
      </p:sp>
      <p:pic>
        <p:nvPicPr>
          <p:cNvPr id="3" name="Picture 2" descr="from-repo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Example of spatial uncertainty depiction for decision-making contexts.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22222"/>
                </a:solidFill>
              </a:defRPr>
            </a:pPr>
            <a:r>
              <a:t>Raw Spatio-Temporal Data  →  Preprocessing &amp; Cleaning  →  Uncertainty Estimation  →  Visual Encoding Layer  →  Interactive Dashboard  →  Decision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Raw Data: location + time + observed values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Preprocessing: cleaning, aggregation, temporal alignment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Uncertainty Estimation: confidence, variance, missingness, prediction error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Visual Encoding: opacity, blur, gradients, density-aware views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Dashboard: map, timeline, filters, interaction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Decision Support: identify reliable and uncertain regions</a:t>
            </a:r>
          </a:p>
        </p:txBody>
      </p:sp>
      <p:pic>
        <p:nvPicPr>
          <p:cNvPr id="5" name="Picture 4" descr="den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43200"/>
            <a:ext cx="534924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80760"/>
            <a:ext cx="5349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Dense raw point data (high density, overplotting risk).</a:t>
            </a:r>
          </a:p>
        </p:txBody>
      </p:sp>
      <p:pic>
        <p:nvPicPr>
          <p:cNvPr id="7" name="Picture 6" descr="heatma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743200"/>
            <a:ext cx="534924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6080760"/>
            <a:ext cx="5349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Uncertainty-aware aggregated view (density/heatmap encoding).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Flow Diagram — Data Insertion</a:t>
            </a:r>
          </a:p>
        </p:txBody>
      </p:sp>
      <p:pic>
        <p:nvPicPr>
          <p:cNvPr id="3" name="Picture 2" descr="data-workflo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End-to-end ingestion flow: raw logs → parsing → storage/indexing.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Flow Diagram — Operations / Interaction Workflow</a:t>
            </a:r>
          </a:p>
        </p:txBody>
      </p:sp>
      <p:pic>
        <p:nvPicPr>
          <p:cNvPr id="3" name="Picture 2" descr="operation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User operations: filtering, mode selection, comparison, and visual updates.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— GNSS Fix Visualization (Leaflet + D3)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Ingest Android GNSS Logger data; keep only “Fix,” rows → *_FixOnly.txt (CSV-like).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Optionally load OSM GPX reference exported as *_latlon_by_time.txt (TSV: ISO_TIME, LAT, LON).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Parse Fix fields (lat/lon/alt/speed/accuracy/bearing/UnixTimeMillis/VerticalAccuracyMeters) in a web app via fetch().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Compute derived metrics: Haversine distance-from-first, Δlat/Δlon, and Δalt.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Render multiple views: point map (color=distance, size=accuracy), heatmaps (grid/soft density; 30 m stationary threshold; hover window i±7), and uncertainty rings (radius=AccuracyMeters).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Compare mode: align GNSS vs OSM reference; compute nearest-neighbor deviation and signed cross-track deviation; show on map + D3 chart.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Tools/Tech: Leaflet, D3.js, JavaScript (fetch), and Python preprocessing utilities as needed.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Outputs: interactive map, linked chart (Lon vs Alt / Lon vs deviation), and summary stats panel.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&amp; Testing — GNSS Fix Visualization (Leaflet + D3)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Test data / scenarios: stationary and walking traces; with/without OSM reference track; varying fix density and accuracy.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Input validation: accept only well-formed Fix lines (len ≥ 13); skip non-finite lat/lon/alt; treat missing fields as null.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Loading checks: relative URLs (./data/...) for GitHub Pages or local HTTP server; manual upload fallback verified.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Metric sanity: Haversine distance ranges and monotonic distance-from-first checks; validate Δlat/Δlon/Δalt against raw fields.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Visualization testing: Original / Heatmap (mono &amp; BGR) / Uncertainty modes render without errors; 30 m moving threshold enforced; hover i±7 preview stable.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Compare-mode validation: nearest-neighbor and signed cross-track deviation consistent across hover and chart; chart clipping ±3 m applied correctly.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Acceptance criteria: no runtime errors; consistent stats panel ranges; map selection fields match chart values for the same fix index.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— Reference vs Raw GNSS Comparison</a:t>
            </a:r>
          </a:p>
        </p:txBody>
      </p:sp>
      <p:pic>
        <p:nvPicPr>
          <p:cNvPr id="3" name="Picture 2" descr="dashbo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Comparison of reference track vs raw GNSS; chart shows distance deviation (meters).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— Deviations in Stationary Data</a:t>
            </a:r>
          </a:p>
        </p:txBody>
      </p:sp>
      <p:pic>
        <p:nvPicPr>
          <p:cNvPr id="3" name="Picture 2" descr="dashbo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Observed drift/deviation patterns while device is stable.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— Uncertainty in Stationary Data (Density / Heatmap)</a:t>
            </a:r>
          </a:p>
        </p:txBody>
      </p:sp>
      <p:pic>
        <p:nvPicPr>
          <p:cNvPr id="3" name="Picture 2" descr="dashbo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Density-based encoding for stationary uncertainty patterns.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— Uncertainty in Stationary Data (Heatmap)</a:t>
            </a:r>
          </a:p>
        </p:txBody>
      </p:sp>
      <p:pic>
        <p:nvPicPr>
          <p:cNvPr id="3" name="Picture 2" descr="dashboar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Heatmap encoding for stationary uncertainty patterns.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— Walking Data</a:t>
            </a:r>
          </a:p>
        </p:txBody>
      </p:sp>
      <p:pic>
        <p:nvPicPr>
          <p:cNvPr id="3" name="Picture 2" descr="dashboar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97280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6583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44444"/>
                </a:solidFill>
              </a:defRPr>
            </a:pPr>
            <a:r>
              <a:t>Behavior of density/heatmap uncertainty views on walking traces.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Built an interactive GNSS fix analysis tool (Leaflet map + D3 chart) for visual exploration.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Parsed and cleaned Android GNSS Logger Fix records; computed derived metrics (distance-from-first, deltas).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Provided multiple perspectives: point view, density/heatmaps, and uncertainty rings.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Enabled reference-based evaluation using OSM track comparison (nearest-neighbor + cross-track deviation).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Improved interpretability of accuracy, drift, and route-level behavior through linked interactions (hover/click).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Large-scale validation on dense, high-frequency, long-duration datasets (city-scale, many tracks).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Performance: mitigate browser memory pressure and UI lag (many markers / heavy heat computations).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Visualization scaling: address overplotting, zoom-dependent density bias, and detail loss (clustering/tiling).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Data quality: handle time misalignment, outliers/multipath effects, and missing accuracy fields robustly.</a:t>
            </a:r>
          </a:p>
          <a:p>
            <a:pPr>
              <a:spcAft>
                <a:spcPts val="200"/>
              </a:spcAft>
              <a:defRPr sz="2000">
                <a:solidFill>
                  <a:srgbClr val="111111"/>
                </a:solidFill>
              </a:defRPr>
            </a:pPr>
            <a:r>
              <a:rPr sz="2000" i="0"/>
              <a:t>Next steps: spatial indexing (grid/k-d tree), vector tiling, incremental/streamed loading, and outlier filtering.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/>
            </a:pPr>
            <a: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