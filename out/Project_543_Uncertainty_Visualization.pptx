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52928"/>
            <a:ext cx="12191695" cy="73152"/>
          </a:xfrm>
          <a:prstGeom prst="rect">
            <a:avLst/>
          </a:prstGeom>
          <a:solidFill>
            <a:srgbClr val="1AA6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10820095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Project #543</a:t>
            </a:r>
            <a:br/>
            <a:r>
              <a:t>Visualizing Spatio-Temporal Uncertainty in High-Density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337560"/>
            <a:ext cx="10820095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11827"/>
                </a:solidFill>
              </a:defRPr>
            </a:pPr>
            <a:r>
              <a:t>Mustafa Bozyel</a:t>
            </a:r>
          </a:p>
          <a:p>
            <a:pPr>
              <a:defRPr sz="1800">
                <a:solidFill>
                  <a:srgbClr val="111827"/>
                </a:solidFill>
              </a:defRPr>
            </a:pPr>
            <a:r>
              <a:t>Senih Kırmaç</a:t>
            </a:r>
          </a:p>
          <a:p>
            <a:pPr>
              <a:defRPr sz="1800">
                <a:solidFill>
                  <a:srgbClr val="111827"/>
                </a:solidFill>
              </a:defRPr>
            </a:pPr>
            <a:r>
              <a:t>Ömer Mert Özel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989320"/>
            <a:ext cx="283464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6053328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B1F3B"/>
                </a:solidFill>
              </a:defRPr>
            </a:pPr>
            <a:r>
              <a:t>Project #543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"/>
            <a:ext cx="12191695" cy="54864"/>
          </a:xfrm>
          <a:prstGeom prst="rect">
            <a:avLst/>
          </a:prstGeom>
          <a:solidFill>
            <a:srgbClr val="1AA6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8016"/>
            <a:ext cx="10820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Problem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20624"/>
            <a:ext cx="108200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AA6B7"/>
                </a:solidFill>
              </a:defRPr>
            </a:pPr>
            <a:r>
              <a:t>Context + goal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978408"/>
            <a:ext cx="10820095" cy="5376672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207008"/>
            <a:ext cx="10180015" cy="4919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111827"/>
                </a:solidFill>
              </a:defRPr>
            </a:pPr>
            <a:r>
              <a:rPr sz="1900" i="0">
                <a:solidFill>
                  <a:srgbClr val="111827"/>
                </a:solidFill>
              </a:rPr>
              <a:t>Real-world spatio-temporal data is inherently uncertain (sensor noise, missingness, drift).</a:t>
            </a:r>
          </a:p>
          <a:p>
            <a:pPr>
              <a:spcAft>
                <a:spcPts val="600"/>
              </a:spcAft>
              <a:defRPr sz="1900">
                <a:solidFill>
                  <a:srgbClr val="111827"/>
                </a:solidFill>
              </a:defRPr>
            </a:pPr>
            <a:r>
              <a:rPr sz="1900" i="0">
                <a:solidFill>
                  <a:srgbClr val="111827"/>
                </a:solidFill>
              </a:rPr>
              <a:t>Standard dashboards often present values as deterministic, masking uncertainty.</a:t>
            </a:r>
          </a:p>
          <a:p>
            <a:pPr>
              <a:spcAft>
                <a:spcPts val="600"/>
              </a:spcAft>
              <a:defRPr sz="1900">
                <a:solidFill>
                  <a:srgbClr val="111827"/>
                </a:solidFill>
              </a:defRPr>
            </a:pPr>
            <a:r>
              <a:rPr sz="1900" i="0">
                <a:solidFill>
                  <a:srgbClr val="111827"/>
                </a:solidFill>
              </a:rPr>
              <a:t>Goal: visualize uncertainty to support safer, more informed decision-making.</a:t>
            </a:r>
          </a:p>
          <a:p>
            <a:pPr>
              <a:spcAft>
                <a:spcPts val="600"/>
              </a:spcAft>
              <a:defRPr sz="1900">
                <a:solidFill>
                  <a:srgbClr val="111827"/>
                </a:solidFill>
              </a:defRPr>
            </a:pPr>
            <a:r>
              <a:rPr sz="1900" i="0">
                <a:solidFill>
                  <a:srgbClr val="111827"/>
                </a:solidFill>
              </a:rPr>
              <a:t>Key challenge: communicate uncertainty in high-density data without visual overload.</a:t>
            </a:r>
          </a:p>
          <a:p>
            <a:pPr>
              <a:spcAft>
                <a:spcPts val="600"/>
              </a:spcAft>
              <a:defRPr sz="1900">
                <a:solidFill>
                  <a:srgbClr val="111827"/>
                </a:solidFill>
              </a:defRPr>
            </a:pPr>
            <a:r>
              <a:rPr sz="1900" i="1">
                <a:solidFill>
                  <a:srgbClr val="111827"/>
                </a:solidFill>
              </a:rPr>
              <a:t>*Example (to validate): on a city-scale GNSS trace, accuracy varies over time; a single line can hide drift, while uncertainty-aware encodings reveal low-confidence segments.*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Project #543 — Visualizing Spatio-Temporal Uncertainty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94215" y="658368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2/19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"/>
            <a:ext cx="12191695" cy="54864"/>
          </a:xfrm>
          <a:prstGeom prst="rect">
            <a:avLst/>
          </a:prstGeom>
          <a:solidFill>
            <a:srgbClr val="1AA6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8016"/>
            <a:ext cx="10820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Related Works — Uncertainty Visualization Design 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20624"/>
            <a:ext cx="108200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AA6B7"/>
                </a:solidFill>
              </a:defRPr>
            </a:pPr>
            <a:r>
              <a:t>Literature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978408"/>
            <a:ext cx="10820095" cy="5376672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207008"/>
            <a:ext cx="10180015" cy="4919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111827"/>
                </a:solidFill>
              </a:defRPr>
            </a:pPr>
            <a:r>
              <a:rPr sz="1900" i="0">
                <a:solidFill>
                  <a:srgbClr val="111827"/>
                </a:solidFill>
              </a:rPr>
              <a:t>Padilla, Kay, and Hullman (2022): design space of uncertainty visualization techniques.</a:t>
            </a:r>
          </a:p>
          <a:p>
            <a:pPr>
              <a:spcAft>
                <a:spcPts val="600"/>
              </a:spcAft>
              <a:defRPr sz="1900">
                <a:solidFill>
                  <a:srgbClr val="111827"/>
                </a:solidFill>
              </a:defRPr>
            </a:pPr>
            <a:r>
              <a:rPr sz="1900" i="0">
                <a:solidFill>
                  <a:srgbClr val="111827"/>
                </a:solidFill>
              </a:rPr>
              <a:t>Distributional graphics (e.g., quantile dot plots, ensemble plots) vs. direct visual encodings.</a:t>
            </a:r>
          </a:p>
          <a:p>
            <a:pPr>
              <a:spcAft>
                <a:spcPts val="600"/>
              </a:spcAft>
              <a:defRPr sz="1900">
                <a:solidFill>
                  <a:srgbClr val="111827"/>
                </a:solidFill>
              </a:defRPr>
            </a:pPr>
            <a:r>
              <a:rPr sz="1900" i="0">
                <a:solidFill>
                  <a:srgbClr val="111827"/>
                </a:solidFill>
              </a:rPr>
              <a:t>For high-density spatio-temporal data: prefer density-aware encodings (opacity, blur, gradients) to reduce clutter.</a:t>
            </a:r>
          </a:p>
          <a:p>
            <a:pPr>
              <a:spcAft>
                <a:spcPts val="600"/>
              </a:spcAft>
              <a:defRPr sz="1900">
                <a:solidFill>
                  <a:srgbClr val="111827"/>
                </a:solidFill>
              </a:defRPr>
            </a:pPr>
            <a:r>
              <a:rPr sz="1900" i="0">
                <a:solidFill>
                  <a:srgbClr val="111827"/>
                </a:solidFill>
              </a:rPr>
              <a:t>MacEachren et al. (2012): visual semiotics—blur, transparency, fuzziness, and size effectively communicate uncertainty.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Project #543 — Visualizing Spatio-Temporal Uncertainty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94215" y="658368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3/19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"/>
            <a:ext cx="12191695" cy="54864"/>
          </a:xfrm>
          <a:prstGeom prst="rect">
            <a:avLst/>
          </a:prstGeom>
          <a:solidFill>
            <a:srgbClr val="1AA6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8016"/>
            <a:ext cx="10820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Related Works — Design Space (Padilla et al., 2022)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20624"/>
            <a:ext cx="108200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AA6B7"/>
                </a:solidFill>
              </a:defRPr>
            </a:pPr>
            <a:r>
              <a:t>Literature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978408"/>
            <a:ext cx="10820095" cy="5056632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adill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051560"/>
            <a:ext cx="10673791" cy="49103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6108192"/>
            <a:ext cx="10820095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7280"/>
                </a:solidFill>
              </a:defRPr>
            </a:pPr>
            <a:r>
              <a:t>Uncertainty visualization techniques and encodings (overview figure).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Project #543 — Visualizing Spatio-Temporal Uncertainty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94215" y="658368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4/19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"/>
            <a:ext cx="12191695" cy="54864"/>
          </a:xfrm>
          <a:prstGeom prst="rect">
            <a:avLst/>
          </a:prstGeom>
          <a:solidFill>
            <a:srgbClr val="1AA6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8016"/>
            <a:ext cx="10820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Related Works — Spatial Uncertainty &amp; Decision-Oriented Views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20624"/>
            <a:ext cx="108200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AA6B7"/>
                </a:solidFill>
              </a:defRPr>
            </a:pPr>
            <a:r>
              <a:t>Literature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978408"/>
            <a:ext cx="10820095" cy="5376672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207008"/>
            <a:ext cx="10180015" cy="4919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111827"/>
                </a:solidFill>
              </a:defRPr>
            </a:pPr>
            <a:r>
              <a:rPr sz="1900" i="0">
                <a:solidFill>
                  <a:srgbClr val="111827"/>
                </a:solidFill>
              </a:rPr>
              <a:t>McKenzie et al. (spatial uncertainty examples): uncertainty in map/mobile interfaces.</a:t>
            </a:r>
          </a:p>
          <a:p>
            <a:pPr>
              <a:spcAft>
                <a:spcPts val="600"/>
              </a:spcAft>
              <a:defRPr sz="1900">
                <a:solidFill>
                  <a:srgbClr val="111827"/>
                </a:solidFill>
              </a:defRPr>
            </a:pPr>
            <a:r>
              <a:rPr sz="1900" i="0">
                <a:solidFill>
                  <a:srgbClr val="111827"/>
                </a:solidFill>
              </a:rPr>
              <a:t>Common approach: positional uncertainty regions (e.g., circles), enriched with contextual cues.</a:t>
            </a:r>
          </a:p>
          <a:p>
            <a:pPr>
              <a:spcAft>
                <a:spcPts val="600"/>
              </a:spcAft>
              <a:defRPr sz="1900">
                <a:solidFill>
                  <a:srgbClr val="111827"/>
                </a:solidFill>
              </a:defRPr>
            </a:pPr>
            <a:r>
              <a:rPr sz="1900" i="0">
                <a:solidFill>
                  <a:srgbClr val="111827"/>
                </a:solidFill>
              </a:rPr>
              <a:t>Risk: hard boundaries can imply false certainty; continuous uncertainty should avoid rigid borders.</a:t>
            </a:r>
          </a:p>
          <a:p>
            <a:pPr>
              <a:spcAft>
                <a:spcPts val="600"/>
              </a:spcAft>
              <a:defRPr sz="1900">
                <a:solidFill>
                  <a:srgbClr val="111827"/>
                </a:solidFill>
              </a:defRPr>
            </a:pPr>
            <a:r>
              <a:rPr sz="1900" i="0">
                <a:solidFill>
                  <a:srgbClr val="111827"/>
                </a:solidFill>
              </a:rPr>
              <a:t>Liu et al. (2016): representative sampling / ensemble visualization for multiple possible outcomes.</a:t>
            </a:r>
          </a:p>
          <a:p>
            <a:pPr>
              <a:spcAft>
                <a:spcPts val="600"/>
              </a:spcAft>
              <a:defRPr sz="1900">
                <a:solidFill>
                  <a:srgbClr val="111827"/>
                </a:solidFill>
              </a:defRPr>
            </a:pPr>
            <a:r>
              <a:rPr sz="1900" i="0">
                <a:solidFill>
                  <a:srgbClr val="111827"/>
                </a:solidFill>
              </a:rPr>
              <a:t>Implication: uncertainty views must balance clarity, density, and user interpretation.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Project #543 — Visualizing Spatio-Temporal Uncertainty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94215" y="658368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5/19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"/>
            <a:ext cx="12191695" cy="54864"/>
          </a:xfrm>
          <a:prstGeom prst="rect">
            <a:avLst/>
          </a:prstGeom>
          <a:solidFill>
            <a:srgbClr val="1AA6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8016"/>
            <a:ext cx="10820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Related Works — Spatial Uncertainty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20624"/>
            <a:ext cx="108200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AA6B7"/>
                </a:solidFill>
              </a:defRPr>
            </a:pPr>
            <a:r>
              <a:t>Literature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978408"/>
            <a:ext cx="10820095" cy="5056632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rom-repor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051560"/>
            <a:ext cx="10673791" cy="49103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6108192"/>
            <a:ext cx="10820095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7280"/>
                </a:solidFill>
              </a:defRPr>
            </a:pPr>
            <a:r>
              <a:t>Example of spatial uncertainty depiction for decision-making contexts.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Project #543 — Visualizing Spatio-Temporal Uncertainty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94215" y="658368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6/19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"/>
            <a:ext cx="12191695" cy="54864"/>
          </a:xfrm>
          <a:prstGeom prst="rect">
            <a:avLst/>
          </a:prstGeom>
          <a:solidFill>
            <a:srgbClr val="1AA6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8016"/>
            <a:ext cx="10820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System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20624"/>
            <a:ext cx="108200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AA6B7"/>
                </a:solidFill>
              </a:defRPr>
            </a:pPr>
            <a:r>
              <a:t>Pipeline + prototype views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22960"/>
            <a:ext cx="1082009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11827"/>
                </a:solidFill>
              </a:defRPr>
            </a:pPr>
            <a:r>
              <a:t>Raw Spatio-Temporal Data  →  Preprocessing &amp; Cleaning  →  Uncertainty Estimation  →  Visual Encoding Layer  →  Interactive Dashboard  →  Decision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82009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Raw Data: location + time + observed values</a:t>
            </a:r>
          </a:p>
          <a:p>
            <a:pPr>
              <a:defRPr sz="1200">
                <a:solidFill>
                  <a:srgbClr val="6B7280"/>
                </a:solidFill>
              </a:defRPr>
            </a:pPr>
            <a:r>
              <a:t>Preprocessing: cleaning, aggregation, temporal alignment</a:t>
            </a:r>
          </a:p>
          <a:p>
            <a:pPr>
              <a:defRPr sz="1200">
                <a:solidFill>
                  <a:srgbClr val="6B7280"/>
                </a:solidFill>
              </a:defRPr>
            </a:pPr>
            <a:r>
              <a:t>Uncertainty Estimation: confidence, variance, missingness, prediction error</a:t>
            </a:r>
          </a:p>
          <a:p>
            <a:pPr>
              <a:defRPr sz="1200">
                <a:solidFill>
                  <a:srgbClr val="6B7280"/>
                </a:solidFill>
              </a:defRPr>
            </a:pPr>
            <a:r>
              <a:t>Visual Encoding: opacity, blur, gradients, density-aware views</a:t>
            </a:r>
          </a:p>
          <a:p>
            <a:pPr>
              <a:defRPr sz="1200">
                <a:solidFill>
                  <a:srgbClr val="6B7280"/>
                </a:solidFill>
              </a:defRPr>
            </a:pPr>
            <a:r>
              <a:t>Dashboard: map, timeline, filters, interaction</a:t>
            </a:r>
          </a:p>
          <a:p>
            <a:pPr>
              <a:defRPr sz="1200">
                <a:solidFill>
                  <a:srgbClr val="6B7280"/>
                </a:solidFill>
              </a:defRPr>
            </a:pPr>
            <a:r>
              <a:t>Decision Support: identify reliable and uncertain regions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624328"/>
            <a:ext cx="5282031" cy="3227832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ens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697480"/>
            <a:ext cx="5135727" cy="30815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5925312"/>
            <a:ext cx="5282031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7280"/>
                </a:solidFill>
              </a:defRPr>
            </a:pPr>
            <a:r>
              <a:t>Dense raw point data (high density, overplotting risk).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3863" y="2624328"/>
            <a:ext cx="5282031" cy="3227832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heatma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7015" y="2697480"/>
            <a:ext cx="5135727" cy="30815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23863" y="5925312"/>
            <a:ext cx="5282031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7280"/>
                </a:solidFill>
              </a:defRPr>
            </a:pPr>
            <a:r>
              <a:t>Uncertainty-aware aggregated view (density/heatmap encoding).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5836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Project #543 — Visualizing Spatio-Temporal Uncertainty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94215" y="658368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7/19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"/>
            <a:ext cx="12191695" cy="54864"/>
          </a:xfrm>
          <a:prstGeom prst="rect">
            <a:avLst/>
          </a:prstGeom>
          <a:solidFill>
            <a:srgbClr val="1AA6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8016"/>
            <a:ext cx="10820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Data Flow Diagram — Data Insertion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20624"/>
            <a:ext cx="108200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AA6B7"/>
                </a:solidFill>
              </a:defRPr>
            </a:pPr>
            <a:r>
              <a:t>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978408"/>
            <a:ext cx="10820095" cy="5056632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ata-workflow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051560"/>
            <a:ext cx="10673791" cy="49103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6108192"/>
            <a:ext cx="10820095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7280"/>
                </a:solidFill>
              </a:defRPr>
            </a:pPr>
            <a:r>
              <a:t>End-to-end ingestion flow: raw logs → parsing → storage/indexing.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Project #543 — Visualizing Spatio-Temporal Uncertainty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94215" y="658368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8/19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"/>
            <a:ext cx="12191695" cy="54864"/>
          </a:xfrm>
          <a:prstGeom prst="rect">
            <a:avLst/>
          </a:prstGeom>
          <a:solidFill>
            <a:srgbClr val="1AA6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8016"/>
            <a:ext cx="10820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Data Flow Diagram — Operations / Interaction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20624"/>
            <a:ext cx="108200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AA6B7"/>
                </a:solidFill>
              </a:defRPr>
            </a:pPr>
            <a:r>
              <a:t>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978408"/>
            <a:ext cx="10820095" cy="5056632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peration-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051560"/>
            <a:ext cx="10673791" cy="49103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6108192"/>
            <a:ext cx="10820095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7280"/>
                </a:solidFill>
              </a:defRPr>
            </a:pPr>
            <a:r>
              <a:t>User operations: filtering, mode selection, comparison, and visual updates.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Project #543 — Visualizing Spatio-Temporal Uncertainty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94215" y="658368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9/19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"/>
            <a:ext cx="12191695" cy="54864"/>
          </a:xfrm>
          <a:prstGeom prst="rect">
            <a:avLst/>
          </a:prstGeom>
          <a:solidFill>
            <a:srgbClr val="1AA6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8016"/>
            <a:ext cx="10820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Methodology — GNSS Fix Visualization (Leaflet + D3)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20624"/>
            <a:ext cx="108200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AA6B7"/>
                </a:solidFill>
              </a:defRPr>
            </a:pPr>
            <a:r>
              <a:t>Implementation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978408"/>
            <a:ext cx="10820095" cy="5376672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207008"/>
            <a:ext cx="10180015" cy="4919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111827"/>
                </a:solidFill>
              </a:defRPr>
            </a:pPr>
            <a:r>
              <a:rPr sz="1900" i="0">
                <a:solidFill>
                  <a:srgbClr val="111827"/>
                </a:solidFill>
              </a:rPr>
              <a:t>Ingest Android GNSS Logger data; keep only “Fix,” rows → *_FixOnly.txt (CSV-like).</a:t>
            </a:r>
          </a:p>
          <a:p>
            <a:pPr>
              <a:spcAft>
                <a:spcPts val="600"/>
              </a:spcAft>
              <a:defRPr sz="1900">
                <a:solidFill>
                  <a:srgbClr val="111827"/>
                </a:solidFill>
              </a:defRPr>
            </a:pPr>
            <a:r>
              <a:rPr sz="1900" i="0">
                <a:solidFill>
                  <a:srgbClr val="111827"/>
                </a:solidFill>
              </a:rPr>
              <a:t>Optionally load OSM GPX reference exported as *_latlon_by_time.txt (TSV: ISO_TIME, LAT, LON).</a:t>
            </a:r>
          </a:p>
          <a:p>
            <a:pPr>
              <a:spcAft>
                <a:spcPts val="600"/>
              </a:spcAft>
              <a:defRPr sz="1900">
                <a:solidFill>
                  <a:srgbClr val="111827"/>
                </a:solidFill>
              </a:defRPr>
            </a:pPr>
            <a:r>
              <a:rPr sz="1900" i="0">
                <a:solidFill>
                  <a:srgbClr val="111827"/>
                </a:solidFill>
              </a:rPr>
              <a:t>Parse Fix fields (lat/lon/alt/speed/accuracy/bearing/UnixTimeMillis/VerticalAccuracyMeters) in a web app via fetch().</a:t>
            </a:r>
          </a:p>
          <a:p>
            <a:pPr>
              <a:spcAft>
                <a:spcPts val="600"/>
              </a:spcAft>
              <a:defRPr sz="1900">
                <a:solidFill>
                  <a:srgbClr val="111827"/>
                </a:solidFill>
              </a:defRPr>
            </a:pPr>
            <a:r>
              <a:rPr sz="1900" i="0">
                <a:solidFill>
                  <a:srgbClr val="111827"/>
                </a:solidFill>
              </a:rPr>
              <a:t>Compute derived metrics: Haversine distance-from-first, Δlat/Δlon, and Δalt.</a:t>
            </a:r>
          </a:p>
          <a:p>
            <a:pPr>
              <a:spcAft>
                <a:spcPts val="600"/>
              </a:spcAft>
              <a:defRPr sz="1900">
                <a:solidFill>
                  <a:srgbClr val="111827"/>
                </a:solidFill>
              </a:defRPr>
            </a:pPr>
            <a:r>
              <a:rPr sz="1900" i="0">
                <a:solidFill>
                  <a:srgbClr val="111827"/>
                </a:solidFill>
              </a:rPr>
              <a:t>Render multiple views: point map (color=distance, size=accuracy), heatmaps (grid/soft density; 30 m stationary threshold; hover window i±7), and uncertainty rings (radius=AccuracyMeters).</a:t>
            </a:r>
          </a:p>
          <a:p>
            <a:pPr>
              <a:spcAft>
                <a:spcPts val="600"/>
              </a:spcAft>
              <a:defRPr sz="1900">
                <a:solidFill>
                  <a:srgbClr val="111827"/>
                </a:solidFill>
              </a:defRPr>
            </a:pPr>
            <a:r>
              <a:rPr sz="1900" i="0">
                <a:solidFill>
                  <a:srgbClr val="111827"/>
                </a:solidFill>
              </a:rPr>
              <a:t>Compare mode: align GNSS vs OSM reference; compute nearest-neighbor deviation and signed cross-track deviation; show on map + D3 chart.</a:t>
            </a:r>
          </a:p>
          <a:p>
            <a:pPr>
              <a:spcAft>
                <a:spcPts val="600"/>
              </a:spcAft>
              <a:defRPr sz="1900">
                <a:solidFill>
                  <a:srgbClr val="111827"/>
                </a:solidFill>
              </a:defRPr>
            </a:pPr>
            <a:r>
              <a:rPr sz="1900" i="0">
                <a:solidFill>
                  <a:srgbClr val="111827"/>
                </a:solidFill>
              </a:rPr>
              <a:t>Tools/Tech: Leaflet, D3.js, JavaScript (fetch), and Python preprocessing utilities as needed.</a:t>
            </a:r>
          </a:p>
          <a:p>
            <a:pPr>
              <a:spcAft>
                <a:spcPts val="600"/>
              </a:spcAft>
              <a:defRPr sz="1900">
                <a:solidFill>
                  <a:srgbClr val="111827"/>
                </a:solidFill>
              </a:defRPr>
            </a:pPr>
            <a:r>
              <a:rPr sz="1900" i="0">
                <a:solidFill>
                  <a:srgbClr val="111827"/>
                </a:solidFill>
              </a:rPr>
              <a:t>Outputs: interactive map, linked chart (Lon vs Alt / Lon vs deviation), and summary stats panel.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Project #543 — Visualizing Spatio-Temporal Uncertainty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94215" y="658368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10/19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"/>
            <a:ext cx="12191695" cy="54864"/>
          </a:xfrm>
          <a:prstGeom prst="rect">
            <a:avLst/>
          </a:prstGeom>
          <a:solidFill>
            <a:srgbClr val="1AA6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8016"/>
            <a:ext cx="10820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Validation &amp; Testing — GNSS Fix Visualization (Leaflet + D3)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20624"/>
            <a:ext cx="108200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AA6B7"/>
                </a:solidFill>
              </a:defRPr>
            </a:pPr>
            <a:r>
              <a:t>Quality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978408"/>
            <a:ext cx="10820095" cy="5376672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207008"/>
            <a:ext cx="10180015" cy="4919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111827"/>
                </a:solidFill>
              </a:defRPr>
            </a:pPr>
            <a:r>
              <a:rPr sz="1900" i="0">
                <a:solidFill>
                  <a:srgbClr val="111827"/>
                </a:solidFill>
              </a:rPr>
              <a:t>Test data / scenarios: stationary and walking traces; with/without OSM reference track; varying fix density and accuracy.</a:t>
            </a:r>
          </a:p>
          <a:p>
            <a:pPr>
              <a:spcAft>
                <a:spcPts val="600"/>
              </a:spcAft>
              <a:defRPr sz="1900">
                <a:solidFill>
                  <a:srgbClr val="111827"/>
                </a:solidFill>
              </a:defRPr>
            </a:pPr>
            <a:r>
              <a:rPr sz="1900" i="0">
                <a:solidFill>
                  <a:srgbClr val="111827"/>
                </a:solidFill>
              </a:rPr>
              <a:t>Input validation: accept only well-formed Fix lines (len ≥ 13); skip non-finite lat/lon/alt; treat missing fields as null.</a:t>
            </a:r>
          </a:p>
          <a:p>
            <a:pPr>
              <a:spcAft>
                <a:spcPts val="600"/>
              </a:spcAft>
              <a:defRPr sz="1900">
                <a:solidFill>
                  <a:srgbClr val="111827"/>
                </a:solidFill>
              </a:defRPr>
            </a:pPr>
            <a:r>
              <a:rPr sz="1900" i="0">
                <a:solidFill>
                  <a:srgbClr val="111827"/>
                </a:solidFill>
              </a:rPr>
              <a:t>Loading checks: relative URLs (./data/...) for GitHub Pages or local HTTP server; manual upload fallback verified.</a:t>
            </a:r>
          </a:p>
          <a:p>
            <a:pPr>
              <a:spcAft>
                <a:spcPts val="600"/>
              </a:spcAft>
              <a:defRPr sz="1900">
                <a:solidFill>
                  <a:srgbClr val="111827"/>
                </a:solidFill>
              </a:defRPr>
            </a:pPr>
            <a:r>
              <a:rPr sz="1900" i="0">
                <a:solidFill>
                  <a:srgbClr val="111827"/>
                </a:solidFill>
              </a:rPr>
              <a:t>Metric sanity: Haversine distance ranges and monotonic distance-from-first checks; validate Δlat/Δlon/Δalt against raw fields.</a:t>
            </a:r>
          </a:p>
          <a:p>
            <a:pPr>
              <a:spcAft>
                <a:spcPts val="600"/>
              </a:spcAft>
              <a:defRPr sz="1900">
                <a:solidFill>
                  <a:srgbClr val="111827"/>
                </a:solidFill>
              </a:defRPr>
            </a:pPr>
            <a:r>
              <a:rPr sz="1900" i="0">
                <a:solidFill>
                  <a:srgbClr val="111827"/>
                </a:solidFill>
              </a:rPr>
              <a:t>Visualization testing: Original / Heatmap (mono &amp; BGR) / Uncertainty modes render without errors; 30 m moving threshold enforced; hover i±7 preview stable.</a:t>
            </a:r>
          </a:p>
          <a:p>
            <a:pPr>
              <a:spcAft>
                <a:spcPts val="600"/>
              </a:spcAft>
              <a:defRPr sz="1900">
                <a:solidFill>
                  <a:srgbClr val="111827"/>
                </a:solidFill>
              </a:defRPr>
            </a:pPr>
            <a:r>
              <a:rPr sz="1900" i="0">
                <a:solidFill>
                  <a:srgbClr val="111827"/>
                </a:solidFill>
              </a:rPr>
              <a:t>Compare-mode validation: nearest-neighbor and signed cross-track deviation consistent across hover and chart; chart clipping ±3 m applied correctly.</a:t>
            </a:r>
          </a:p>
          <a:p>
            <a:pPr>
              <a:spcAft>
                <a:spcPts val="600"/>
              </a:spcAft>
              <a:defRPr sz="1900">
                <a:solidFill>
                  <a:srgbClr val="111827"/>
                </a:solidFill>
              </a:defRPr>
            </a:pPr>
            <a:r>
              <a:rPr sz="1900" i="0">
                <a:solidFill>
                  <a:srgbClr val="111827"/>
                </a:solidFill>
              </a:rPr>
              <a:t>Acceptance criteria: no runtime errors; consistent stats panel ranges; map selection fields match chart values for the same fix index.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Project #543 — Visualizing Spatio-Temporal Uncertainty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94215" y="658368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11/19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"/>
            <a:ext cx="12191695" cy="54864"/>
          </a:xfrm>
          <a:prstGeom prst="rect">
            <a:avLst/>
          </a:prstGeom>
          <a:solidFill>
            <a:srgbClr val="1AA6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8016"/>
            <a:ext cx="10820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Demo — Reference vs Raw GNSS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20624"/>
            <a:ext cx="108200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AA6B7"/>
                </a:solidFill>
              </a:defRPr>
            </a:pPr>
            <a:r>
              <a:t>Demo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978408"/>
            <a:ext cx="10820095" cy="5056632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ashboar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051560"/>
            <a:ext cx="10673791" cy="49103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6108192"/>
            <a:ext cx="10820095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7280"/>
                </a:solidFill>
              </a:defRPr>
            </a:pPr>
            <a:r>
              <a:t>Comparison of reference track vs raw GNSS; chart shows distance deviation (meters).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Project #543 — Visualizing Spatio-Temporal Uncertainty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94215" y="658368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12/19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"/>
            <a:ext cx="12191695" cy="54864"/>
          </a:xfrm>
          <a:prstGeom prst="rect">
            <a:avLst/>
          </a:prstGeom>
          <a:solidFill>
            <a:srgbClr val="1AA6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8016"/>
            <a:ext cx="10820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Demo — Deviations in Stationary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20624"/>
            <a:ext cx="108200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AA6B7"/>
                </a:solidFill>
              </a:defRPr>
            </a:pPr>
            <a:r>
              <a:t>Demo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978408"/>
            <a:ext cx="10820095" cy="5056632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ashboar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051560"/>
            <a:ext cx="10673791" cy="49103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6108192"/>
            <a:ext cx="10820095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7280"/>
                </a:solidFill>
              </a:defRPr>
            </a:pPr>
            <a:r>
              <a:t>Observed drift/deviation patterns while device is stable.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Project #543 — Visualizing Spatio-Temporal Uncertainty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94215" y="658368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13/19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"/>
            <a:ext cx="12191695" cy="54864"/>
          </a:xfrm>
          <a:prstGeom prst="rect">
            <a:avLst/>
          </a:prstGeom>
          <a:solidFill>
            <a:srgbClr val="1AA6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8016"/>
            <a:ext cx="10820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Demo — Uncertainty in Stationary Data (Density / Heatmap)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20624"/>
            <a:ext cx="108200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AA6B7"/>
                </a:solidFill>
              </a:defRPr>
            </a:pPr>
            <a:r>
              <a:t>Demo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978408"/>
            <a:ext cx="10820095" cy="5056632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ashboard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051560"/>
            <a:ext cx="10673791" cy="49103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6108192"/>
            <a:ext cx="10820095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7280"/>
                </a:solidFill>
              </a:defRPr>
            </a:pPr>
            <a:r>
              <a:t>Density-based encoding for stationary uncertainty patterns.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Project #543 — Visualizing Spatio-Temporal Uncertainty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94215" y="658368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14/19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"/>
            <a:ext cx="12191695" cy="54864"/>
          </a:xfrm>
          <a:prstGeom prst="rect">
            <a:avLst/>
          </a:prstGeom>
          <a:solidFill>
            <a:srgbClr val="1AA6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8016"/>
            <a:ext cx="10820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Demo — Uncertainty in Stationary Data (Heatmap)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20624"/>
            <a:ext cx="108200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AA6B7"/>
                </a:solidFill>
              </a:defRPr>
            </a:pPr>
            <a:r>
              <a:t>Demo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978408"/>
            <a:ext cx="10820095" cy="5056632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ashboar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051560"/>
            <a:ext cx="10673791" cy="49103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6108192"/>
            <a:ext cx="10820095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7280"/>
                </a:solidFill>
              </a:defRPr>
            </a:pPr>
            <a:r>
              <a:t>Heatmap encoding for stationary uncertainty patterns.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Project #543 — Visualizing Spatio-Temporal Uncertainty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94215" y="658368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15/19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"/>
            <a:ext cx="12191695" cy="54864"/>
          </a:xfrm>
          <a:prstGeom prst="rect">
            <a:avLst/>
          </a:prstGeom>
          <a:solidFill>
            <a:srgbClr val="1AA6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8016"/>
            <a:ext cx="10820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Demo — Walking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20624"/>
            <a:ext cx="108200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AA6B7"/>
                </a:solidFill>
              </a:defRPr>
            </a:pPr>
            <a:r>
              <a:t>Demo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978408"/>
            <a:ext cx="10820095" cy="5056632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ashboard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051560"/>
            <a:ext cx="10673791" cy="49103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6108192"/>
            <a:ext cx="10820095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7280"/>
                </a:solidFill>
              </a:defRPr>
            </a:pPr>
            <a:r>
              <a:t>Behavior of density/heatmap uncertainty views on walking traces.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Project #543 — Visualizing Spatio-Temporal Uncertainty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94215" y="658368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16/19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"/>
            <a:ext cx="12191695" cy="54864"/>
          </a:xfrm>
          <a:prstGeom prst="rect">
            <a:avLst/>
          </a:prstGeom>
          <a:solidFill>
            <a:srgbClr val="1AA6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8016"/>
            <a:ext cx="10820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20624"/>
            <a:ext cx="108200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AA6B7"/>
                </a:solidFill>
              </a:defRPr>
            </a:pPr>
            <a:r>
              <a:t>Wrap-up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978408"/>
            <a:ext cx="10820095" cy="5376672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207008"/>
            <a:ext cx="10180015" cy="4919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111827"/>
                </a:solidFill>
              </a:defRPr>
            </a:pPr>
            <a:r>
              <a:rPr sz="1900" i="0">
                <a:solidFill>
                  <a:srgbClr val="111827"/>
                </a:solidFill>
              </a:rPr>
              <a:t>Built an interactive GNSS fix analysis tool (Leaflet map + D3 chart) for visual exploration.</a:t>
            </a:r>
          </a:p>
          <a:p>
            <a:pPr>
              <a:spcAft>
                <a:spcPts val="600"/>
              </a:spcAft>
              <a:defRPr sz="1900">
                <a:solidFill>
                  <a:srgbClr val="111827"/>
                </a:solidFill>
              </a:defRPr>
            </a:pPr>
            <a:r>
              <a:rPr sz="1900" i="0">
                <a:solidFill>
                  <a:srgbClr val="111827"/>
                </a:solidFill>
              </a:rPr>
              <a:t>Parsed and cleaned Android GNSS Logger Fix records; computed derived metrics (distance-from-first, deltas).</a:t>
            </a:r>
          </a:p>
          <a:p>
            <a:pPr>
              <a:spcAft>
                <a:spcPts val="600"/>
              </a:spcAft>
              <a:defRPr sz="1900">
                <a:solidFill>
                  <a:srgbClr val="111827"/>
                </a:solidFill>
              </a:defRPr>
            </a:pPr>
            <a:r>
              <a:rPr sz="1900" i="0">
                <a:solidFill>
                  <a:srgbClr val="111827"/>
                </a:solidFill>
              </a:rPr>
              <a:t>Provided multiple perspectives: point view, density/heatmaps, and uncertainty rings.</a:t>
            </a:r>
          </a:p>
          <a:p>
            <a:pPr>
              <a:spcAft>
                <a:spcPts val="600"/>
              </a:spcAft>
              <a:defRPr sz="1900">
                <a:solidFill>
                  <a:srgbClr val="111827"/>
                </a:solidFill>
              </a:defRPr>
            </a:pPr>
            <a:r>
              <a:rPr sz="1900" i="0">
                <a:solidFill>
                  <a:srgbClr val="111827"/>
                </a:solidFill>
              </a:rPr>
              <a:t>Enabled reference-based evaluation using OSM track comparison (nearest-neighbor + cross-track deviation).</a:t>
            </a:r>
          </a:p>
          <a:p>
            <a:pPr>
              <a:spcAft>
                <a:spcPts val="600"/>
              </a:spcAft>
              <a:defRPr sz="1900">
                <a:solidFill>
                  <a:srgbClr val="111827"/>
                </a:solidFill>
              </a:defRPr>
            </a:pPr>
            <a:r>
              <a:rPr sz="1900" i="0">
                <a:solidFill>
                  <a:srgbClr val="111827"/>
                </a:solidFill>
              </a:rPr>
              <a:t>Improved interpretability of accuracy, drift, and route-level behavior through linked interactions (hover/click).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Project #543 — Visualizing Spatio-Temporal Uncertainty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94215" y="658368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17/19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"/>
            <a:ext cx="12191695" cy="54864"/>
          </a:xfrm>
          <a:prstGeom prst="rect">
            <a:avLst/>
          </a:prstGeom>
          <a:solidFill>
            <a:srgbClr val="1AA6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8016"/>
            <a:ext cx="10820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20624"/>
            <a:ext cx="108200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AA6B7"/>
                </a:solidFill>
              </a:defRPr>
            </a:pPr>
            <a:r>
              <a:t>Wrap-up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978408"/>
            <a:ext cx="10820095" cy="5376672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207008"/>
            <a:ext cx="10180015" cy="4919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111827"/>
                </a:solidFill>
              </a:defRPr>
            </a:pPr>
            <a:r>
              <a:rPr sz="1900" i="0">
                <a:solidFill>
                  <a:srgbClr val="111827"/>
                </a:solidFill>
              </a:rPr>
              <a:t>Large-scale validation on dense, high-frequency, long-duration datasets (city-scale, many tracks).</a:t>
            </a:r>
          </a:p>
          <a:p>
            <a:pPr>
              <a:spcAft>
                <a:spcPts val="600"/>
              </a:spcAft>
              <a:defRPr sz="1900">
                <a:solidFill>
                  <a:srgbClr val="111827"/>
                </a:solidFill>
              </a:defRPr>
            </a:pPr>
            <a:r>
              <a:rPr sz="1900" i="0">
                <a:solidFill>
                  <a:srgbClr val="111827"/>
                </a:solidFill>
              </a:rPr>
              <a:t>Performance: mitigate browser memory pressure and UI lag (many markers / heavy heat computations).</a:t>
            </a:r>
          </a:p>
          <a:p>
            <a:pPr>
              <a:spcAft>
                <a:spcPts val="600"/>
              </a:spcAft>
              <a:defRPr sz="1900">
                <a:solidFill>
                  <a:srgbClr val="111827"/>
                </a:solidFill>
              </a:defRPr>
            </a:pPr>
            <a:r>
              <a:rPr sz="1900" i="0">
                <a:solidFill>
                  <a:srgbClr val="111827"/>
                </a:solidFill>
              </a:rPr>
              <a:t>Visualization scaling: address overplotting, zoom-dependent density bias, and detail loss (clustering/tiling).</a:t>
            </a:r>
          </a:p>
          <a:p>
            <a:pPr>
              <a:spcAft>
                <a:spcPts val="600"/>
              </a:spcAft>
              <a:defRPr sz="1900">
                <a:solidFill>
                  <a:srgbClr val="111827"/>
                </a:solidFill>
              </a:defRPr>
            </a:pPr>
            <a:r>
              <a:rPr sz="1900" i="0">
                <a:solidFill>
                  <a:srgbClr val="111827"/>
                </a:solidFill>
              </a:rPr>
              <a:t>Data quality: handle time misalignment, outliers/multipath effects, and missing accuracy fields robustly.</a:t>
            </a:r>
          </a:p>
          <a:p>
            <a:pPr>
              <a:spcAft>
                <a:spcPts val="600"/>
              </a:spcAft>
              <a:defRPr sz="1900">
                <a:solidFill>
                  <a:srgbClr val="111827"/>
                </a:solidFill>
              </a:defRPr>
            </a:pPr>
            <a:r>
              <a:rPr sz="1900" i="0">
                <a:solidFill>
                  <a:srgbClr val="111827"/>
                </a:solidFill>
              </a:rPr>
              <a:t>Next steps: spatial indexing (grid/k-d tree), vector tiling, incremental/streamed loading, and outlier filtering.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Project #543 — Visualizing Spatio-Temporal Uncertainty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94215" y="658368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18/19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"/>
            <a:ext cx="12191695" cy="54864"/>
          </a:xfrm>
          <a:prstGeom prst="rect">
            <a:avLst/>
          </a:prstGeom>
          <a:solidFill>
            <a:srgbClr val="1AA6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8016"/>
            <a:ext cx="10820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20624"/>
            <a:ext cx="108200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AA6B7"/>
                </a:solidFill>
              </a:defRPr>
            </a:pPr>
            <a:r>
              <a:t>Q&amp;A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23160"/>
            <a:ext cx="108200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0B1F3B"/>
                </a:solidFill>
              </a:defRPr>
            </a:pPr>
            <a:r>
              <a:t>Thank you.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5836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Project #543 — Visualizing Spatio-Temporal Uncertainty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94215" y="658368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19/19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